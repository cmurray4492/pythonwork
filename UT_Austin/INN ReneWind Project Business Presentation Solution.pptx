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Nunito SemiBold"/>
      <p:regular r:id="rId24"/>
      <p:bold r:id="rId25"/>
      <p:italic r:id="rId26"/>
      <p:boldItalic r:id="rId27"/>
    </p:embeddedFont>
    <p:embeddedFont>
      <p:font typeface="Nunito"/>
      <p:regular r:id="rId28"/>
      <p:bold r:id="rId29"/>
      <p:italic r:id="rId30"/>
      <p:boldItalic r:id="rId31"/>
    </p:embeddedFont>
    <p:embeddedFont>
      <p:font typeface="Nunito ExtraBold"/>
      <p:bold r:id="rId32"/>
      <p:boldItalic r:id="rId33"/>
    </p:embeddedFont>
    <p:embeddedFont>
      <p:font typeface="Nunito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8" roundtripDataSignature="AMtx7mgtYxFqOv6xVu5oHZ7fk8vjdtvU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7C4FD2-849F-40FC-89F5-694FBE813643}">
  <a:tblStyle styleId="{DA7C4FD2-849F-40FC-89F5-694FBE813643}"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03F1215F-8930-49F2-B20A-82935E02FA4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NunitoSemiBold-regular.fntdata"/><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NunitoSemiBold-italic.fntdata"/><Relationship Id="rId25" Type="http://schemas.openxmlformats.org/officeDocument/2006/relationships/font" Target="fonts/NunitoSemiBold-bold.fntdata"/><Relationship Id="rId28" Type="http://schemas.openxmlformats.org/officeDocument/2006/relationships/font" Target="fonts/Nunito-regular.fntdata"/><Relationship Id="rId27" Type="http://schemas.openxmlformats.org/officeDocument/2006/relationships/font" Target="fonts/NunitoSemiBol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uni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4.xml"/><Relationship Id="rId33" Type="http://schemas.openxmlformats.org/officeDocument/2006/relationships/font" Target="fonts/NunitoExtraBold-boldItalic.fntdata"/><Relationship Id="rId10" Type="http://schemas.openxmlformats.org/officeDocument/2006/relationships/slide" Target="slides/slide3.xml"/><Relationship Id="rId32" Type="http://schemas.openxmlformats.org/officeDocument/2006/relationships/font" Target="fonts/NunitoExtraBold-bold.fntdata"/><Relationship Id="rId13" Type="http://schemas.openxmlformats.org/officeDocument/2006/relationships/slide" Target="slides/slide6.xml"/><Relationship Id="rId35" Type="http://schemas.openxmlformats.org/officeDocument/2006/relationships/font" Target="fonts/NunitoMedium-bold.fntdata"/><Relationship Id="rId12" Type="http://schemas.openxmlformats.org/officeDocument/2006/relationships/slide" Target="slides/slide5.xml"/><Relationship Id="rId34" Type="http://schemas.openxmlformats.org/officeDocument/2006/relationships/font" Target="fonts/NunitoMedium-regular.fntdata"/><Relationship Id="rId15" Type="http://schemas.openxmlformats.org/officeDocument/2006/relationships/slide" Target="slides/slide8.xml"/><Relationship Id="rId37" Type="http://schemas.openxmlformats.org/officeDocument/2006/relationships/font" Target="fonts/NunitoMedium-boldItalic.fntdata"/><Relationship Id="rId14" Type="http://schemas.openxmlformats.org/officeDocument/2006/relationships/slide" Target="slides/slide7.xml"/><Relationship Id="rId36" Type="http://schemas.openxmlformats.org/officeDocument/2006/relationships/font" Target="fonts/NunitoMedium-italic.fntdata"/><Relationship Id="rId17" Type="http://schemas.openxmlformats.org/officeDocument/2006/relationships/slide" Target="slides/slide10.xml"/><Relationship Id="rId16" Type="http://schemas.openxmlformats.org/officeDocument/2006/relationships/slide" Target="slides/slide9.xml"/><Relationship Id="rId38" Type="http://customschemas.google.com/relationships/presentationmetadata" Target="meta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2508d39905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2508d39905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e9006cb6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10e9006cb6c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68e107af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268e107afd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c29829d9b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2c29829d9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68e107afd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268e107afd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68e107afd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268e107afd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68e107afd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268e107afd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508d39905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12508d39905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508d39905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12508d39905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68e107afd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268e107afd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e9006cb6c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10e9006cb6c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c29829d9b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2c29829d9b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c29829d9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2c29829d9b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c29829d9b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2c29829d9b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ee00f67ea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10ee00f67ea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10ee00f67ea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204" name="Google Shape;204;g10ee00f67ea_0_55: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ge1a9588eba_0_9"/>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ge1a9588eba_0_9"/>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ge1a9588eba_0_1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9" name="Google Shape;19;ge1a9588eba_0_1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0" name="Google Shape;20;ge1a9588eba_0_1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ge1a9588eba_0_1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ge1a9588eba_0_1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ge1a9588eba_0_1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bandRow="1" firstRow="1">
                <a:noFill/>
                <a:tableStyleId>{DA7C4FD2-849F-40FC-89F5-694FBE813643}</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ge1a9588eba_0_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ge1a9588eba_0_2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ge1a9588eba_0_2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ge1a9588eba_0_2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ge1a9588eba_0_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ge1a9588eba_0_2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ge1a9588eba_0_2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e1a9588eba_0_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ge1a9588eba_0_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e1a9588eba_0_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ge1a9588eba_0_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e1a9588eba_0_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ge1a9588eba_0_3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ge1a9588eba_0_4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ge1a9588eba_0_42"/>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50" name="Google Shape;50;ge1a9588eba_0_42"/>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ge1a9588eba_0_42"/>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2"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64" name="Google Shape;64;g10ee00f67ea_0_104"/>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65" name="Google Shape;65;g10ee00f67ea_0_104"/>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66" name="Google Shape;66;g10ee00f67ea_0_104"/>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lang="en" sz="3300">
                <a:solidFill>
                  <a:schemeClr val="lt1"/>
                </a:solidFill>
                <a:latin typeface="Nunito ExtraBold"/>
                <a:ea typeface="Nunito ExtraBold"/>
                <a:cs typeface="Nunito ExtraBold"/>
                <a:sym typeface="Nunito ExtraBold"/>
              </a:rPr>
              <a:t>Power Ahead</a:t>
            </a:r>
            <a:r>
              <a:rPr b="0" i="0" lang="en" sz="3300" u="none" cap="none" strike="noStrike">
                <a:solidFill>
                  <a:schemeClr val="lt1"/>
                </a:solidFill>
                <a:latin typeface="Nunito ExtraBold"/>
                <a:ea typeface="Nunito ExtraBold"/>
                <a:cs typeface="Nunito ExtraBold"/>
                <a:sym typeface="Nunito ExtraBold"/>
              </a:rPr>
              <a:t>!</a:t>
            </a:r>
            <a:endParaRPr b="0" i="0" sz="3300" u="none" cap="none" strike="noStrik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g10ee00f67ea_0_71"/>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70" name="Google Shape;70;g10ee00f67ea_0_71"/>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g10ee00f67ea_0_7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73" name="Google Shape;73;g10ee00f67ea_0_7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g10ee00f67ea_0_7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g10ee00f67ea_0_77"/>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77" name="Google Shape;77;g10ee00f67ea_0_7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78" name="Shape 78"/>
        <p:cNvGrpSpPr/>
        <p:nvPr/>
      </p:nvGrpSpPr>
      <p:grpSpPr>
        <a:xfrm>
          <a:off x="0" y="0"/>
          <a:ext cx="0" cy="0"/>
          <a:chOff x="0" y="0"/>
          <a:chExt cx="0" cy="0"/>
        </a:xfrm>
      </p:grpSpPr>
      <p:sp>
        <p:nvSpPr>
          <p:cNvPr id="79" name="Google Shape;79;g10ee00f67ea_0_8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bandRow="1" firstRow="1">
                <a:noFill/>
                <a:tableStyleId>{DA7C4FD2-849F-40FC-89F5-694FBE813643}</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81" name="Google Shape;81;g10ee00f67ea_0_8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g10ee00f67ea_0_85"/>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4" name="Google Shape;84;g10ee00f67ea_0_8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5" name="Google Shape;85;g10ee00f67ea_0_8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6" name="Google Shape;86;g10ee00f67ea_0_8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g10ee00f67ea_0_9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9" name="Google Shape;89;g10ee00f67ea_0_9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sp>
        <p:nvSpPr>
          <p:cNvPr id="91" name="Google Shape;91;g10ee00f67ea_0_9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2" name="Google Shape;92;g10ee00f67ea_0_9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10ee00f67ea_0_9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6" name="Google Shape;96;g10ee00f67ea_0_9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7" name="Google Shape;97;g10ee00f67ea_0_9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98" name="Google Shape;98;g10ee00f67ea_0_9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g10ee00f67ea_0_10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2.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e1a9588eba_0_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ge1a9588eba_0_0"/>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ge1a9588eba_0_0"/>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ge1a9588eba_0_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g10ee00f67ea_0_6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55" name="Google Shape;55;g10ee00f67ea_0_62"/>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56" name="Google Shape;56;g10ee00f67ea_0_62"/>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57" name="Google Shape;57;g10ee00f67ea_0_6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p14:dur="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12508d39905_0_224"/>
          <p:cNvSpPr txBox="1"/>
          <p:nvPr>
            <p:ph type="ctrTitle"/>
          </p:nvPr>
        </p:nvSpPr>
        <p:spPr>
          <a:xfrm>
            <a:off x="1160725" y="1590238"/>
            <a:ext cx="6827700" cy="1293000"/>
          </a:xfrm>
          <a:prstGeom prst="rect">
            <a:avLst/>
          </a:prstGeom>
          <a:noFill/>
          <a:ln>
            <a:noFill/>
          </a:ln>
        </p:spPr>
        <p:txBody>
          <a:bodyPr anchorCtr="0" anchor="b" bIns="91425" lIns="91425" spcFirstLastPara="1" rIns="91425" wrap="square" tIns="91425">
            <a:spAutoFit/>
          </a:bodyPr>
          <a:lstStyle/>
          <a:p>
            <a:pPr indent="0" lvl="0" marL="0" rtl="0" algn="l">
              <a:lnSpc>
                <a:spcPct val="100000"/>
              </a:lnSpc>
              <a:spcBef>
                <a:spcPts val="0"/>
              </a:spcBef>
              <a:spcAft>
                <a:spcPts val="0"/>
              </a:spcAft>
              <a:buSzPts val="4800"/>
              <a:buNone/>
            </a:pPr>
            <a:r>
              <a:rPr lang="en" sz="3600">
                <a:solidFill>
                  <a:srgbClr val="1974D2"/>
                </a:solidFill>
              </a:rPr>
              <a:t>Wind Turbine Generator Failure Prediction</a:t>
            </a:r>
            <a:endParaRPr sz="3600">
              <a:solidFill>
                <a:srgbClr val="1974D2"/>
              </a:solidFill>
            </a:endParaRPr>
          </a:p>
        </p:txBody>
      </p:sp>
      <p:sp>
        <p:nvSpPr>
          <p:cNvPr id="106" name="Google Shape;106;g12508d39905_0_224"/>
          <p:cNvSpPr txBox="1"/>
          <p:nvPr>
            <p:ph type="ctrTitle"/>
          </p:nvPr>
        </p:nvSpPr>
        <p:spPr>
          <a:xfrm>
            <a:off x="1155575" y="3054963"/>
            <a:ext cx="6827700" cy="498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b="0" lang="en" sz="3000">
                <a:solidFill>
                  <a:srgbClr val="1974D2"/>
                </a:solidFill>
              </a:rPr>
              <a:t>Introduction to Neural Networks</a:t>
            </a:r>
            <a:endParaRPr b="0" sz="3000">
              <a:solidFill>
                <a:srgbClr val="1974D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2" name="Google Shape;112;p2"/>
          <p:cNvSpPr txBox="1"/>
          <p:nvPr>
            <p:ph idx="1" type="body"/>
          </p:nvPr>
        </p:nvSpPr>
        <p:spPr>
          <a:xfrm>
            <a:off x="202550" y="861975"/>
            <a:ext cx="8629800" cy="3408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Model Evaluation Criterion</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Test Performance of Best Model</a:t>
            </a:r>
            <a:endParaRPr sz="1400">
              <a:solidFill>
                <a:srgbClr val="000000"/>
              </a:solidFill>
            </a:endParaRPr>
          </a:p>
          <a:p>
            <a:pPr indent="-317500" lvl="0" marL="457200" rtl="0" algn="l">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0e9006cb6c_1_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8" name="Google Shape;118;g10e9006cb6c_1_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Char char="●"/>
            </a:pPr>
            <a:r>
              <a:rPr lang="en" sz="1400">
                <a:solidFill>
                  <a:srgbClr val="000000"/>
                </a:solidFill>
              </a:rPr>
              <a:t>The best model obtained is a neural network that </a:t>
            </a:r>
            <a:r>
              <a:rPr lang="en" sz="1400">
                <a:solidFill>
                  <a:srgbClr val="000000"/>
                </a:solidFill>
              </a:rPr>
              <a:t>achieves a recall of 92% overall and 84% on </a:t>
            </a:r>
            <a:r>
              <a:rPr lang="en" sz="1400">
                <a:solidFill>
                  <a:srgbClr val="000000"/>
                </a:solidFill>
              </a:rPr>
              <a:t>the "failure" class, along with high precision and F1-scores.</a:t>
            </a:r>
            <a:endParaRPr sz="1400">
              <a:solidFill>
                <a:srgbClr val="000000"/>
              </a:solidFill>
            </a:endParaRPr>
          </a:p>
          <a:p>
            <a:pPr indent="-317500" lvl="0" marL="457200" rtl="0" algn="l">
              <a:spcBef>
                <a:spcPts val="1000"/>
              </a:spcBef>
              <a:spcAft>
                <a:spcPts val="0"/>
              </a:spcAft>
              <a:buClr>
                <a:srgbClr val="000000"/>
              </a:buClr>
              <a:buSzPts val="1400"/>
              <a:buChar char="●"/>
            </a:pPr>
            <a:r>
              <a:rPr lang="en" sz="1400">
                <a:solidFill>
                  <a:srgbClr val="000000"/>
                </a:solidFill>
              </a:rPr>
              <a:t>With only 68 false positives, the inspection costs remain manageable. The model does not overburden maintenance teams with unnecessary inspections, aligning well with cost efficiency.</a:t>
            </a:r>
            <a:endParaRPr sz="1400">
              <a:solidFill>
                <a:srgbClr val="000000"/>
              </a:solidFill>
            </a:endParaRPr>
          </a:p>
          <a:p>
            <a:pPr indent="-317500" lvl="0" marL="457200" rtl="0" algn="l">
              <a:spcBef>
                <a:spcPts val="1000"/>
              </a:spcBef>
              <a:spcAft>
                <a:spcPts val="0"/>
              </a:spcAft>
              <a:buClr>
                <a:srgbClr val="000000"/>
              </a:buClr>
              <a:buSzPts val="1400"/>
              <a:buChar char="●"/>
            </a:pPr>
            <a:r>
              <a:rPr lang="en" sz="1400">
                <a:solidFill>
                  <a:srgbClr val="000000"/>
                </a:solidFill>
              </a:rPr>
              <a:t>Focus on Reducing False Negatives (FN)</a:t>
            </a:r>
            <a:endParaRPr sz="1400">
              <a:solidFill>
                <a:srgbClr val="000000"/>
              </a:solidFill>
            </a:endParaRPr>
          </a:p>
          <a:p>
            <a:pPr indent="-317500" lvl="1" marL="914400" rtl="0" algn="l">
              <a:spcBef>
                <a:spcPts val="1000"/>
              </a:spcBef>
              <a:spcAft>
                <a:spcPts val="0"/>
              </a:spcAft>
              <a:buClr>
                <a:srgbClr val="000000"/>
              </a:buClr>
              <a:buSzPts val="1400"/>
              <a:buChar char="○"/>
            </a:pPr>
            <a:r>
              <a:rPr lang="en" sz="1400">
                <a:solidFill>
                  <a:srgbClr val="000000"/>
                </a:solidFill>
              </a:rPr>
              <a:t>The 43 undetected failures (FN) can lead to replacement costs, which are significantly higher than repair costs. To further minimize these, consider enhancing the model by incorporating additional predictive features in the original data or using ensemble techniques to improve recall for failures.</a:t>
            </a:r>
            <a:endParaRPr sz="1400">
              <a:solidFill>
                <a:srgbClr val="000000"/>
              </a:solidFill>
            </a:endParaRPr>
          </a:p>
          <a:p>
            <a:pPr indent="0" lvl="0" marL="0" rtl="0" algn="l">
              <a:spcBef>
                <a:spcPts val="1000"/>
              </a:spcBef>
              <a:spcAft>
                <a:spcPts val="1000"/>
              </a:spcAft>
              <a:buNone/>
            </a:pPr>
            <a:r>
              <a:t/>
            </a:r>
            <a:endParaRPr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268e107afd_0_5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24" name="Google Shape;124;g3268e107afd_0_5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Char char="●"/>
            </a:pPr>
            <a:r>
              <a:rPr lang="en" sz="1400">
                <a:solidFill>
                  <a:srgbClr val="000000"/>
                </a:solidFill>
              </a:rPr>
              <a:t>Implement Predictive Maintenance Protocols</a:t>
            </a:r>
            <a:endParaRPr sz="1400">
              <a:solidFill>
                <a:srgbClr val="000000"/>
              </a:solidFill>
            </a:endParaRPr>
          </a:p>
          <a:p>
            <a:pPr indent="-317500" lvl="1" marL="914400" rtl="0" algn="l">
              <a:spcBef>
                <a:spcPts val="1000"/>
              </a:spcBef>
              <a:spcAft>
                <a:spcPts val="0"/>
              </a:spcAft>
              <a:buClr>
                <a:srgbClr val="000000"/>
              </a:buClr>
              <a:buSzPts val="1400"/>
              <a:buChar char="○"/>
            </a:pPr>
            <a:r>
              <a:rPr lang="en" sz="1400">
                <a:solidFill>
                  <a:srgbClr val="000000"/>
                </a:solidFill>
              </a:rPr>
              <a:t>Use the model's predictions to establish a tiered maintenance protocol:</a:t>
            </a:r>
            <a:endParaRPr sz="1400">
              <a:solidFill>
                <a:srgbClr val="000000"/>
              </a:solidFill>
            </a:endParaRPr>
          </a:p>
          <a:p>
            <a:pPr indent="-317500" lvl="2" marL="1371600" rtl="0" algn="l">
              <a:spcBef>
                <a:spcPts val="1000"/>
              </a:spcBef>
              <a:spcAft>
                <a:spcPts val="0"/>
              </a:spcAft>
              <a:buClr>
                <a:srgbClr val="000000"/>
              </a:buClr>
              <a:buSzPts val="1400"/>
              <a:buChar char="■"/>
            </a:pPr>
            <a:r>
              <a:rPr lang="en" sz="1400">
                <a:solidFill>
                  <a:srgbClr val="000000"/>
                </a:solidFill>
              </a:rPr>
              <a:t>Prioritize generators predicted to fail (class 1) for immediate repair.</a:t>
            </a:r>
            <a:endParaRPr sz="1400">
              <a:solidFill>
                <a:srgbClr val="000000"/>
              </a:solidFill>
            </a:endParaRPr>
          </a:p>
          <a:p>
            <a:pPr indent="-317500" lvl="2" marL="1371600" rtl="0" algn="l">
              <a:spcBef>
                <a:spcPts val="1000"/>
              </a:spcBef>
              <a:spcAft>
                <a:spcPts val="0"/>
              </a:spcAft>
              <a:buClr>
                <a:srgbClr val="000000"/>
              </a:buClr>
              <a:buSzPts val="1400"/>
              <a:buChar char="■"/>
            </a:pPr>
            <a:r>
              <a:rPr lang="en" sz="1400">
                <a:solidFill>
                  <a:srgbClr val="000000"/>
                </a:solidFill>
              </a:rPr>
              <a:t>Perform routine inspections on non-failure cases (class 0) to verify the model's predictions and refine future iterations.</a:t>
            </a:r>
            <a:endParaRPr sz="1400">
              <a:solidFill>
                <a:srgbClr val="000000"/>
              </a:solidFill>
            </a:endParaRPr>
          </a:p>
          <a:p>
            <a:pPr indent="-317500" lvl="0" marL="457200" rtl="0" algn="l">
              <a:spcBef>
                <a:spcPts val="1000"/>
              </a:spcBef>
              <a:spcAft>
                <a:spcPts val="0"/>
              </a:spcAft>
              <a:buClr>
                <a:srgbClr val="000000"/>
              </a:buClr>
              <a:buSzPts val="1400"/>
              <a:buChar char="●"/>
            </a:pPr>
            <a:r>
              <a:rPr lang="en" sz="1400">
                <a:solidFill>
                  <a:srgbClr val="000000"/>
                </a:solidFill>
              </a:rPr>
              <a:t>Monitor Cost Trade-offs and Update Models Regularly</a:t>
            </a:r>
            <a:endParaRPr sz="1400">
              <a:solidFill>
                <a:srgbClr val="000000"/>
              </a:solidFill>
            </a:endParaRPr>
          </a:p>
          <a:p>
            <a:pPr indent="-317500" lvl="1" marL="914400" rtl="0" algn="l">
              <a:spcBef>
                <a:spcPts val="1000"/>
              </a:spcBef>
              <a:spcAft>
                <a:spcPts val="1000"/>
              </a:spcAft>
              <a:buClr>
                <a:srgbClr val="000000"/>
              </a:buClr>
              <a:buSzPts val="1400"/>
              <a:buChar char="○"/>
            </a:pPr>
            <a:r>
              <a:rPr lang="en" sz="1400">
                <a:solidFill>
                  <a:srgbClr val="000000"/>
                </a:solidFill>
              </a:rPr>
              <a:t>Continuously monitor the balance between inspection, repair, and replacement costs. Regularly update the model with new sensor data to adapt to changes in equipment performance and environmental conditions, ensuring sustained accuracy and cost savings</a:t>
            </a:r>
            <a:endParaRPr sz="14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2c29829d9b_0_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30" name="Google Shape;130;g32c29829d9b_0_1"/>
          <p:cNvSpPr txBox="1"/>
          <p:nvPr>
            <p:ph idx="1" type="body"/>
          </p:nvPr>
        </p:nvSpPr>
        <p:spPr>
          <a:xfrm>
            <a:off x="202550" y="861975"/>
            <a:ext cx="8629800" cy="2639400"/>
          </a:xfrm>
          <a:prstGeom prst="rect">
            <a:avLst/>
          </a:prstGeom>
          <a:noFill/>
          <a:ln>
            <a:noFill/>
          </a:ln>
        </p:spPr>
        <p:txBody>
          <a:bodyPr anchorCtr="0" anchor="t" bIns="91425" lIns="91425" spcFirstLastPara="1" rIns="91425" wrap="square" tIns="91425">
            <a:spAutoFit/>
          </a:bodyPr>
          <a:lstStyle/>
          <a:p>
            <a:pPr indent="-317500" lvl="0" marL="457200" rtl="0" algn="l">
              <a:spcBef>
                <a:spcPts val="600"/>
              </a:spcBef>
              <a:spcAft>
                <a:spcPts val="0"/>
              </a:spcAft>
              <a:buClr>
                <a:srgbClr val="000000"/>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Renewable energy sources play an increasingly important role in the global energy mix, as the effort to reduce the environmental impact of energy production increases.</a:t>
            </a:r>
            <a:endParaRPr sz="1400">
              <a:solidFill>
                <a:srgbClr val="1F1F1F"/>
              </a:solidFill>
              <a:highlight>
                <a:srgbClr val="FFFFFF"/>
              </a:highlight>
              <a:latin typeface="Nunito Medium"/>
              <a:ea typeface="Nunito Medium"/>
              <a:cs typeface="Nunito Medium"/>
              <a:sym typeface="Nunito Medium"/>
            </a:endParaRPr>
          </a:p>
          <a:p>
            <a:pPr indent="-317500" lvl="0" marL="457200" rtl="0" algn="l">
              <a:spcBef>
                <a:spcPts val="1000"/>
              </a:spcBef>
              <a:spcAft>
                <a:spcPts val="0"/>
              </a:spcAft>
              <a:buClr>
                <a:srgbClr val="000000"/>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Predictive maintenance uses sensor information and analysis methods to measure and predict degradation and future component capability. The idea behind predictive maintenance is that failure patterns are predictable and if component failure can be predicted accurately and the component is replaced before it fails, the costs of operation and maintenance will be much lower.</a:t>
            </a:r>
            <a:endParaRPr sz="1400">
              <a:solidFill>
                <a:srgbClr val="1F1F1F"/>
              </a:solidFill>
              <a:highlight>
                <a:srgbClr val="FFFFFF"/>
              </a:highlight>
              <a:latin typeface="Nunito Medium"/>
              <a:ea typeface="Nunito Medium"/>
              <a:cs typeface="Nunito Medium"/>
              <a:sym typeface="Nunito Medium"/>
            </a:endParaRPr>
          </a:p>
          <a:p>
            <a:pPr indent="-317500" lvl="0" marL="457200" rtl="0" algn="l">
              <a:spcBef>
                <a:spcPts val="1000"/>
              </a:spcBef>
              <a:spcAft>
                <a:spcPts val="100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The task is to make a robust predictive model which can correctly predict whether a generator will result in a </a:t>
            </a:r>
            <a:r>
              <a:rPr lang="en" sz="1400">
                <a:solidFill>
                  <a:srgbClr val="1F1F1F"/>
                </a:solidFill>
                <a:highlight>
                  <a:srgbClr val="FFFFFF"/>
                </a:highlight>
                <a:latin typeface="Nunito Medium"/>
                <a:ea typeface="Nunito Medium"/>
                <a:cs typeface="Nunito Medium"/>
                <a:sym typeface="Nunito Medium"/>
              </a:rPr>
              <a:t>failure to operate or not. The approach is to try out several neural network models and choose the one which performs the best.</a:t>
            </a:r>
            <a:endParaRPr sz="14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68e107afd_0_2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Univariate</a:t>
            </a:r>
            <a:endParaRPr>
              <a:solidFill>
                <a:srgbClr val="1974D2"/>
              </a:solidFill>
            </a:endParaRPr>
          </a:p>
        </p:txBody>
      </p:sp>
      <p:sp>
        <p:nvSpPr>
          <p:cNvPr id="136" name="Google Shape;136;g3268e107afd_0_26"/>
          <p:cNvSpPr txBox="1"/>
          <p:nvPr>
            <p:ph idx="1" type="body"/>
          </p:nvPr>
        </p:nvSpPr>
        <p:spPr>
          <a:xfrm>
            <a:off x="202550" y="861975"/>
            <a:ext cx="8629800" cy="776400"/>
          </a:xfrm>
          <a:prstGeom prst="rect">
            <a:avLst/>
          </a:prstGeom>
          <a:noFill/>
          <a:ln>
            <a:noFill/>
          </a:ln>
        </p:spPr>
        <p:txBody>
          <a:bodyPr anchorCtr="0" anchor="t" bIns="91425" lIns="91425" spcFirstLastPara="1" rIns="91425" wrap="square" tIns="91425">
            <a:spAutoFit/>
          </a:bodyPr>
          <a:lstStyle/>
          <a:p>
            <a:pPr indent="-317500" lvl="0" marL="457200" rtl="0" algn="l">
              <a:spcBef>
                <a:spcPts val="600"/>
              </a:spcBef>
              <a:spcAft>
                <a:spcPts val="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All variables through V1 to V40 are approx. normally distributed and scaled. </a:t>
            </a:r>
            <a:endParaRPr sz="1400">
              <a:solidFill>
                <a:srgbClr val="1F1F1F"/>
              </a:solidFill>
              <a:highlight>
                <a:srgbClr val="FFFFFF"/>
              </a:highlight>
              <a:latin typeface="Nunito Medium"/>
              <a:ea typeface="Nunito Medium"/>
              <a:cs typeface="Nunito Medium"/>
              <a:sym typeface="Nunito Medium"/>
            </a:endParaRPr>
          </a:p>
          <a:p>
            <a:pPr indent="-317500" lvl="0" marL="457200" rtl="0" algn="l">
              <a:spcBef>
                <a:spcPts val="1000"/>
              </a:spcBef>
              <a:spcAft>
                <a:spcPts val="100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There are no outliers in the data.</a:t>
            </a:r>
            <a:endParaRPr sz="1400">
              <a:solidFill>
                <a:srgbClr val="1F1F1F"/>
              </a:solidFill>
              <a:highlight>
                <a:srgbClr val="FFFFFF"/>
              </a:highlight>
              <a:latin typeface="Nunito Medium"/>
              <a:ea typeface="Nunito Medium"/>
              <a:cs typeface="Nunito Medium"/>
              <a:sym typeface="Nunito Medium"/>
            </a:endParaRPr>
          </a:p>
        </p:txBody>
      </p:sp>
      <p:pic>
        <p:nvPicPr>
          <p:cNvPr id="137" name="Google Shape;137;g3268e107afd_0_26"/>
          <p:cNvPicPr preferRelativeResize="0"/>
          <p:nvPr/>
        </p:nvPicPr>
        <p:blipFill>
          <a:blip r:embed="rId3">
            <a:alphaModFix/>
          </a:blip>
          <a:stretch>
            <a:fillRect/>
          </a:stretch>
        </p:blipFill>
        <p:spPr>
          <a:xfrm>
            <a:off x="71154" y="1925550"/>
            <a:ext cx="4376757" cy="2621699"/>
          </a:xfrm>
          <a:prstGeom prst="rect">
            <a:avLst/>
          </a:prstGeom>
          <a:noFill/>
          <a:ln>
            <a:noFill/>
          </a:ln>
        </p:spPr>
      </p:pic>
      <p:pic>
        <p:nvPicPr>
          <p:cNvPr id="138" name="Google Shape;138;g3268e107afd_0_26"/>
          <p:cNvPicPr preferRelativeResize="0"/>
          <p:nvPr/>
        </p:nvPicPr>
        <p:blipFill>
          <a:blip r:embed="rId4">
            <a:alphaModFix/>
          </a:blip>
          <a:stretch>
            <a:fillRect/>
          </a:stretch>
        </p:blipFill>
        <p:spPr>
          <a:xfrm>
            <a:off x="4696065" y="1925551"/>
            <a:ext cx="4376772" cy="2621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268e107afd_0_3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Univariate</a:t>
            </a:r>
            <a:endParaRPr>
              <a:solidFill>
                <a:srgbClr val="1974D2"/>
              </a:solidFill>
            </a:endParaRPr>
          </a:p>
        </p:txBody>
      </p:sp>
      <p:sp>
        <p:nvSpPr>
          <p:cNvPr id="144" name="Google Shape;144;g3268e107afd_0_34"/>
          <p:cNvSpPr txBox="1"/>
          <p:nvPr>
            <p:ph idx="1" type="body"/>
          </p:nvPr>
        </p:nvSpPr>
        <p:spPr>
          <a:xfrm>
            <a:off x="202550" y="861975"/>
            <a:ext cx="86298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600"/>
              </a:spcBef>
              <a:spcAft>
                <a:spcPts val="100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There is high class imbalance with 0 class constituting more than 80% of the data. </a:t>
            </a:r>
            <a:endParaRPr sz="1400">
              <a:solidFill>
                <a:srgbClr val="1F1F1F"/>
              </a:solidFill>
              <a:highlight>
                <a:srgbClr val="FFFFFF"/>
              </a:highlight>
              <a:latin typeface="Nunito Medium"/>
              <a:ea typeface="Nunito Medium"/>
              <a:cs typeface="Nunito Medium"/>
              <a:sym typeface="Nunito Medium"/>
            </a:endParaRPr>
          </a:p>
        </p:txBody>
      </p:sp>
      <p:pic>
        <p:nvPicPr>
          <p:cNvPr id="145" name="Google Shape;145;g3268e107afd_0_34"/>
          <p:cNvPicPr preferRelativeResize="0"/>
          <p:nvPr/>
        </p:nvPicPr>
        <p:blipFill>
          <a:blip r:embed="rId3">
            <a:alphaModFix/>
          </a:blip>
          <a:stretch>
            <a:fillRect/>
          </a:stretch>
        </p:blipFill>
        <p:spPr>
          <a:xfrm>
            <a:off x="1518625" y="1409525"/>
            <a:ext cx="4806981" cy="3576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268e107afd_0_4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Bivariate</a:t>
            </a:r>
            <a:endParaRPr>
              <a:solidFill>
                <a:srgbClr val="1974D2"/>
              </a:solidFill>
            </a:endParaRPr>
          </a:p>
        </p:txBody>
      </p:sp>
      <p:sp>
        <p:nvSpPr>
          <p:cNvPr id="151" name="Google Shape;151;g3268e107afd_0_41"/>
          <p:cNvSpPr txBox="1"/>
          <p:nvPr>
            <p:ph idx="1" type="body"/>
          </p:nvPr>
        </p:nvSpPr>
        <p:spPr>
          <a:xfrm>
            <a:off x="202550" y="861975"/>
            <a:ext cx="4369500" cy="1519800"/>
          </a:xfrm>
          <a:prstGeom prst="rect">
            <a:avLst/>
          </a:prstGeom>
          <a:noFill/>
          <a:ln>
            <a:noFill/>
          </a:ln>
        </p:spPr>
        <p:txBody>
          <a:bodyPr anchorCtr="0" anchor="t" bIns="91425" lIns="91425" spcFirstLastPara="1" rIns="91425" wrap="square" tIns="91425">
            <a:spAutoFit/>
          </a:bodyPr>
          <a:lstStyle/>
          <a:p>
            <a:pPr indent="-317500" lvl="0" marL="457200" rtl="0" algn="l">
              <a:spcBef>
                <a:spcPts val="600"/>
              </a:spcBef>
              <a:spcAft>
                <a:spcPts val="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Variables through V23 to V33 how higher correlation among themselves  than other variables.</a:t>
            </a:r>
            <a:endParaRPr sz="1400">
              <a:solidFill>
                <a:srgbClr val="1F1F1F"/>
              </a:solidFill>
              <a:highlight>
                <a:srgbClr val="FFFFFF"/>
              </a:highlight>
              <a:latin typeface="Nunito Medium"/>
              <a:ea typeface="Nunito Medium"/>
              <a:cs typeface="Nunito Medium"/>
              <a:sym typeface="Nunito Medium"/>
            </a:endParaRPr>
          </a:p>
          <a:p>
            <a:pPr indent="-317500" lvl="0" marL="457200" rtl="0" algn="l">
              <a:spcBef>
                <a:spcPts val="1000"/>
              </a:spcBef>
              <a:spcAft>
                <a:spcPts val="1000"/>
              </a:spcAft>
              <a:buClr>
                <a:srgbClr val="1F1F1F"/>
              </a:buClr>
              <a:buSzPts val="1400"/>
              <a:buFont typeface="Nunito Medium"/>
              <a:buChar char="●"/>
            </a:pPr>
            <a:r>
              <a:rPr lang="en" sz="1400">
                <a:solidFill>
                  <a:srgbClr val="1F1F1F"/>
                </a:solidFill>
                <a:highlight>
                  <a:srgbClr val="FFFFFF"/>
                </a:highlight>
                <a:latin typeface="Nunito Medium"/>
                <a:ea typeface="Nunito Medium"/>
                <a:cs typeface="Nunito Medium"/>
                <a:sym typeface="Nunito Medium"/>
              </a:rPr>
              <a:t>The target variable shows low correlation overall with the independent variables.</a:t>
            </a:r>
            <a:endParaRPr sz="1400">
              <a:solidFill>
                <a:srgbClr val="1F1F1F"/>
              </a:solidFill>
              <a:highlight>
                <a:srgbClr val="FFFFFF"/>
              </a:highlight>
              <a:latin typeface="Nunito Medium"/>
              <a:ea typeface="Nunito Medium"/>
              <a:cs typeface="Nunito Medium"/>
              <a:sym typeface="Nunito Medium"/>
            </a:endParaRPr>
          </a:p>
        </p:txBody>
      </p:sp>
      <p:pic>
        <p:nvPicPr>
          <p:cNvPr id="152" name="Google Shape;152;g3268e107afd_0_41"/>
          <p:cNvPicPr preferRelativeResize="0"/>
          <p:nvPr/>
        </p:nvPicPr>
        <p:blipFill>
          <a:blip r:embed="rId3">
            <a:alphaModFix/>
          </a:blip>
          <a:stretch>
            <a:fillRect/>
          </a:stretch>
        </p:blipFill>
        <p:spPr>
          <a:xfrm>
            <a:off x="5083725" y="743150"/>
            <a:ext cx="3848376" cy="4178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12508d39905_0_10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58" name="Google Shape;158;g12508d39905_0_109"/>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2D3B45"/>
              </a:buClr>
              <a:buSzPts val="1400"/>
              <a:buChar char="●"/>
            </a:pPr>
            <a:r>
              <a:rPr lang="en" sz="1400">
                <a:solidFill>
                  <a:srgbClr val="2D3B45"/>
                </a:solidFill>
                <a:highlight>
                  <a:srgbClr val="FFFFFF"/>
                </a:highlight>
              </a:rPr>
              <a:t>There are no duplicate values in both test and training set.</a:t>
            </a:r>
            <a:endParaRPr sz="1400">
              <a:solidFill>
                <a:srgbClr val="2D3B45"/>
              </a:solidFill>
              <a:highlight>
                <a:srgbClr val="FFFFFF"/>
              </a:highlight>
            </a:endParaRPr>
          </a:p>
          <a:p>
            <a:pPr indent="-317500" lvl="0" marL="45720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We changed the datatype of the target variable from integer to float.</a:t>
            </a:r>
            <a:endParaRPr sz="1400">
              <a:solidFill>
                <a:srgbClr val="2D3B45"/>
              </a:solidFill>
              <a:highlight>
                <a:srgbClr val="FFFFFF"/>
              </a:highlight>
            </a:endParaRPr>
          </a:p>
          <a:p>
            <a:pPr indent="-317500" lvl="0" marL="45720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Data is already scaled and distributed approx. normally.</a:t>
            </a:r>
            <a:endParaRPr sz="1400">
              <a:solidFill>
                <a:srgbClr val="2D3B45"/>
              </a:solidFill>
              <a:highlight>
                <a:srgbClr val="FFFFFF"/>
              </a:highlight>
            </a:endParaRPr>
          </a:p>
          <a:p>
            <a:pPr indent="-317500" lvl="0" marL="45720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Since a test set is already available, we are splitting the training data into train and validation with validation size = 0.25.</a:t>
            </a:r>
            <a:endParaRPr sz="1400">
              <a:solidFill>
                <a:srgbClr val="2D3B45"/>
              </a:solidFill>
              <a:highlight>
                <a:srgbClr val="FFFFFF"/>
              </a:highlight>
            </a:endParaRPr>
          </a:p>
          <a:p>
            <a:pPr indent="-317500" lvl="0" marL="45720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There are 0.090% missing values in V1 and 0.090% missing values in V2 in training set. There are 0.1% missing values in V1 and 0.12% missing values in V2 in the test set.</a:t>
            </a:r>
            <a:endParaRPr sz="1400">
              <a:solidFill>
                <a:srgbClr val="2D3B45"/>
              </a:solidFill>
              <a:highlight>
                <a:srgbClr val="FFFFFF"/>
              </a:highlight>
            </a:endParaRPr>
          </a:p>
          <a:p>
            <a:pPr indent="-317500" lvl="0" marL="457200" rtl="0" algn="l">
              <a:lnSpc>
                <a:spcPct val="115000"/>
              </a:lnSpc>
              <a:spcBef>
                <a:spcPts val="1000"/>
              </a:spcBef>
              <a:spcAft>
                <a:spcPts val="1000"/>
              </a:spcAft>
              <a:buClr>
                <a:srgbClr val="2D3B45"/>
              </a:buClr>
              <a:buSzPts val="1400"/>
              <a:buChar char="●"/>
            </a:pPr>
            <a:r>
              <a:rPr lang="en" sz="1400">
                <a:solidFill>
                  <a:srgbClr val="2D3B45"/>
                </a:solidFill>
                <a:highlight>
                  <a:srgbClr val="FFFFFF"/>
                </a:highlight>
              </a:rPr>
              <a:t>These missing values are imputed using median after the train-validation </a:t>
            </a:r>
            <a:r>
              <a:rPr lang="en" sz="1400">
                <a:solidFill>
                  <a:srgbClr val="2D3B45"/>
                </a:solidFill>
                <a:highlight>
                  <a:srgbClr val="FFFFFF"/>
                </a:highlight>
              </a:rPr>
              <a:t>split</a:t>
            </a:r>
            <a:r>
              <a:rPr lang="en" sz="1400">
                <a:solidFill>
                  <a:srgbClr val="2D3B45"/>
                </a:solidFill>
                <a:highlight>
                  <a:srgbClr val="FFFFFF"/>
                </a:highlight>
              </a:rPr>
              <a:t> to account for data leakage.</a:t>
            </a:r>
            <a:endParaRPr sz="1400">
              <a:solidFill>
                <a:srgbClr val="2D3B45"/>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12508d39905_0_21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Evaluation Criterion</a:t>
            </a:r>
            <a:endParaRPr>
              <a:solidFill>
                <a:srgbClr val="1974D2"/>
              </a:solidFill>
            </a:endParaRPr>
          </a:p>
        </p:txBody>
      </p:sp>
      <p:sp>
        <p:nvSpPr>
          <p:cNvPr id="164" name="Google Shape;164;g12508d39905_0_217"/>
          <p:cNvSpPr txBox="1"/>
          <p:nvPr>
            <p:ph idx="1" type="body"/>
          </p:nvPr>
        </p:nvSpPr>
        <p:spPr>
          <a:xfrm>
            <a:off x="202550" y="870750"/>
            <a:ext cx="8629800" cy="1895700"/>
          </a:xfrm>
          <a:prstGeom prst="rect">
            <a:avLst/>
          </a:prstGeom>
          <a:solidFill>
            <a:schemeClr val="lt1"/>
          </a:solid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000000"/>
              </a:buClr>
              <a:buSzPts val="1400"/>
              <a:buFont typeface="Nunito Medium"/>
              <a:buChar char="●"/>
            </a:pPr>
            <a:r>
              <a:rPr lang="en" sz="1400">
                <a:solidFill>
                  <a:srgbClr val="000000"/>
                </a:solidFill>
                <a:highlight>
                  <a:schemeClr val="lt1"/>
                </a:highlight>
                <a:latin typeface="Nunito Medium"/>
                <a:ea typeface="Nunito Medium"/>
                <a:cs typeface="Nunito Medium"/>
                <a:sym typeface="Nunito Medium"/>
              </a:rPr>
              <a:t>We need to choose the metric which will ensure that the maximum number of generator failures are predicted correctly by the model.</a:t>
            </a:r>
            <a:endParaRPr sz="1400">
              <a:solidFill>
                <a:srgbClr val="000000"/>
              </a:solidFill>
              <a:highlight>
                <a:schemeClr val="lt1"/>
              </a:highlight>
              <a:latin typeface="Nunito Medium"/>
              <a:ea typeface="Nunito Medium"/>
              <a:cs typeface="Nunito Medium"/>
              <a:sym typeface="Nunito Medium"/>
            </a:endParaRPr>
          </a:p>
          <a:p>
            <a:pPr indent="-317500" lvl="0" marL="457200" rtl="0" algn="l">
              <a:lnSpc>
                <a:spcPct val="115000"/>
              </a:lnSpc>
              <a:spcBef>
                <a:spcPts val="1000"/>
              </a:spcBef>
              <a:spcAft>
                <a:spcPts val="0"/>
              </a:spcAft>
              <a:buClr>
                <a:srgbClr val="000000"/>
              </a:buClr>
              <a:buSzPts val="1400"/>
              <a:buFont typeface="Nunito Medium"/>
              <a:buChar char="●"/>
            </a:pPr>
            <a:r>
              <a:rPr lang="en" sz="1400">
                <a:solidFill>
                  <a:srgbClr val="000000"/>
                </a:solidFill>
                <a:highlight>
                  <a:schemeClr val="lt1"/>
                </a:highlight>
                <a:latin typeface="Nunito Medium"/>
                <a:ea typeface="Nunito Medium"/>
                <a:cs typeface="Nunito Medium"/>
                <a:sym typeface="Nunito Medium"/>
              </a:rPr>
              <a:t>We would want Recall to be maximized as greater the Recall, the higher the chances of minimizing false negatives.</a:t>
            </a:r>
            <a:endParaRPr sz="1400">
              <a:solidFill>
                <a:srgbClr val="000000"/>
              </a:solidFill>
              <a:highlight>
                <a:schemeClr val="lt1"/>
              </a:highlight>
              <a:latin typeface="Nunito Medium"/>
              <a:ea typeface="Nunito Medium"/>
              <a:cs typeface="Nunito Medium"/>
              <a:sym typeface="Nunito Medium"/>
            </a:endParaRPr>
          </a:p>
          <a:p>
            <a:pPr indent="-317500" lvl="0" marL="457200" rtl="0" algn="l">
              <a:lnSpc>
                <a:spcPct val="115000"/>
              </a:lnSpc>
              <a:spcBef>
                <a:spcPts val="1000"/>
              </a:spcBef>
              <a:spcAft>
                <a:spcPts val="1000"/>
              </a:spcAft>
              <a:buClr>
                <a:srgbClr val="000000"/>
              </a:buClr>
              <a:buSzPts val="1400"/>
              <a:buFont typeface="Nunito Medium"/>
              <a:buChar char="●"/>
            </a:pPr>
            <a:r>
              <a:rPr lang="en" sz="1400">
                <a:solidFill>
                  <a:srgbClr val="000000"/>
                </a:solidFill>
                <a:highlight>
                  <a:schemeClr val="lt1"/>
                </a:highlight>
                <a:latin typeface="Nunito Medium"/>
                <a:ea typeface="Nunito Medium"/>
                <a:cs typeface="Nunito Medium"/>
                <a:sym typeface="Nunito Medium"/>
              </a:rPr>
              <a:t>We want to minimize false negatives because if a model predicts that a machine will have no failure when there will be a failure, it will increase the maintenance cost.</a:t>
            </a:r>
            <a:endParaRPr i="1" sz="1400">
              <a:solidFill>
                <a:srgbClr val="000000"/>
              </a:solidFill>
              <a:highlight>
                <a:schemeClr val="lt1"/>
              </a:highlight>
              <a:latin typeface="Nunito Medium"/>
              <a:ea typeface="Nunito Medium"/>
              <a:cs typeface="Nunito Medium"/>
              <a:sym typeface="Nunit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268e107afd_0_5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Performance Summary</a:t>
            </a:r>
            <a:endParaRPr>
              <a:solidFill>
                <a:srgbClr val="1974D2"/>
              </a:solidFill>
            </a:endParaRPr>
          </a:p>
        </p:txBody>
      </p:sp>
      <p:pic>
        <p:nvPicPr>
          <p:cNvPr id="170" name="Google Shape;170;g3268e107afd_0_58"/>
          <p:cNvPicPr preferRelativeResize="0"/>
          <p:nvPr/>
        </p:nvPicPr>
        <p:blipFill>
          <a:blip r:embed="rId3">
            <a:alphaModFix/>
          </a:blip>
          <a:stretch>
            <a:fillRect/>
          </a:stretch>
        </p:blipFill>
        <p:spPr>
          <a:xfrm>
            <a:off x="3669525" y="989400"/>
            <a:ext cx="5459075" cy="1689500"/>
          </a:xfrm>
          <a:prstGeom prst="rect">
            <a:avLst/>
          </a:prstGeom>
          <a:noFill/>
          <a:ln>
            <a:noFill/>
          </a:ln>
        </p:spPr>
      </p:pic>
      <p:pic>
        <p:nvPicPr>
          <p:cNvPr id="171" name="Google Shape;171;g3268e107afd_0_58"/>
          <p:cNvPicPr preferRelativeResize="0"/>
          <p:nvPr/>
        </p:nvPicPr>
        <p:blipFill>
          <a:blip r:embed="rId4">
            <a:alphaModFix/>
          </a:blip>
          <a:stretch>
            <a:fillRect/>
          </a:stretch>
        </p:blipFill>
        <p:spPr>
          <a:xfrm>
            <a:off x="3669525" y="2879275"/>
            <a:ext cx="5466030" cy="1689500"/>
          </a:xfrm>
          <a:prstGeom prst="rect">
            <a:avLst/>
          </a:prstGeom>
          <a:noFill/>
          <a:ln>
            <a:noFill/>
          </a:ln>
        </p:spPr>
      </p:pic>
      <p:sp>
        <p:nvSpPr>
          <p:cNvPr id="172" name="Google Shape;172;g3268e107afd_0_58"/>
          <p:cNvSpPr txBox="1"/>
          <p:nvPr/>
        </p:nvSpPr>
        <p:spPr>
          <a:xfrm>
            <a:off x="314325" y="904800"/>
            <a:ext cx="2884200" cy="302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Nunito"/>
              <a:buChar char="●"/>
            </a:pPr>
            <a:r>
              <a:rPr lang="en">
                <a:solidFill>
                  <a:schemeClr val="dk2"/>
                </a:solidFill>
                <a:latin typeface="Nunito"/>
                <a:ea typeface="Nunito"/>
                <a:cs typeface="Nunito"/>
                <a:sym typeface="Nunito"/>
              </a:rPr>
              <a:t>We can observe that Model 4 performs the best and achieves the highest recall on both the training and validation sets</a:t>
            </a:r>
            <a:endParaRPr>
              <a:solidFill>
                <a:schemeClr val="dk2"/>
              </a:solidFill>
              <a:latin typeface="Nunito"/>
              <a:ea typeface="Nunito"/>
              <a:cs typeface="Nunito"/>
              <a:sym typeface="Nunito"/>
            </a:endParaRPr>
          </a:p>
          <a:p>
            <a:pPr indent="-317500" lvl="0" marL="457200" rtl="0" algn="l">
              <a:spcBef>
                <a:spcPts val="1000"/>
              </a:spcBef>
              <a:spcAft>
                <a:spcPts val="0"/>
              </a:spcAft>
              <a:buClr>
                <a:schemeClr val="dk2"/>
              </a:buClr>
              <a:buSzPts val="1400"/>
              <a:buFont typeface="Nunito"/>
              <a:buChar char="●"/>
            </a:pPr>
            <a:r>
              <a:rPr lang="en">
                <a:solidFill>
                  <a:schemeClr val="dk2"/>
                </a:solidFill>
                <a:latin typeface="Nunito"/>
                <a:ea typeface="Nunito"/>
                <a:cs typeface="Nunito"/>
                <a:sym typeface="Nunito"/>
              </a:rPr>
              <a:t>This model is a neural network with 3 hidden layers, Adam optimizer, and no regularization or class weight adjustment</a:t>
            </a:r>
            <a:endParaRPr>
              <a:solidFill>
                <a:schemeClr val="dk2"/>
              </a:solidFill>
              <a:latin typeface="Nunito"/>
              <a:ea typeface="Nunito"/>
              <a:cs typeface="Nunito"/>
              <a:sym typeface="Nunito"/>
            </a:endParaRPr>
          </a:p>
          <a:p>
            <a:pPr indent="-317500" lvl="0" marL="457200" rtl="0" algn="l">
              <a:spcBef>
                <a:spcPts val="1000"/>
              </a:spcBef>
              <a:spcAft>
                <a:spcPts val="1000"/>
              </a:spcAft>
              <a:buClr>
                <a:schemeClr val="dk2"/>
              </a:buClr>
              <a:buSzPts val="1400"/>
              <a:buFont typeface="Nunito"/>
              <a:buChar char="●"/>
            </a:pPr>
            <a:r>
              <a:rPr lang="en">
                <a:solidFill>
                  <a:schemeClr val="dk2"/>
                </a:solidFill>
                <a:latin typeface="Nunito"/>
                <a:ea typeface="Nunito"/>
                <a:cs typeface="Nunito"/>
                <a:sym typeface="Nunito"/>
              </a:rPr>
              <a:t>We'll choose this as our final model</a:t>
            </a:r>
            <a:endParaRPr>
              <a:solidFill>
                <a:schemeClr val="dk2"/>
              </a:solidFill>
              <a:latin typeface="Nunito"/>
              <a:ea typeface="Nunito"/>
              <a:cs typeface="Nunito"/>
              <a:sym typeface="Nunito"/>
            </a:endParaRPr>
          </a:p>
        </p:txBody>
      </p:sp>
      <p:sp>
        <p:nvSpPr>
          <p:cNvPr id="173" name="Google Shape;173;g3268e107afd_0_58"/>
          <p:cNvSpPr/>
          <p:nvPr/>
        </p:nvSpPr>
        <p:spPr>
          <a:xfrm>
            <a:off x="7066075" y="1205675"/>
            <a:ext cx="677700" cy="1366200"/>
          </a:xfrm>
          <a:prstGeom prst="rect">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74" name="Google Shape;174;g3268e107afd_0_58"/>
          <p:cNvSpPr/>
          <p:nvPr/>
        </p:nvSpPr>
        <p:spPr>
          <a:xfrm>
            <a:off x="7066075" y="3078775"/>
            <a:ext cx="677700" cy="1366200"/>
          </a:xfrm>
          <a:prstGeom prst="rect">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0e9006cb6c_1_20"/>
          <p:cNvSpPr txBox="1"/>
          <p:nvPr>
            <p:ph type="ctrTitle"/>
          </p:nvPr>
        </p:nvSpPr>
        <p:spPr>
          <a:xfrm>
            <a:off x="0" y="2820425"/>
            <a:ext cx="9144000" cy="581700"/>
          </a:xfrm>
          <a:prstGeom prst="rect">
            <a:avLst/>
          </a:prstGeom>
          <a:solidFill>
            <a:srgbClr val="0000FF"/>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2c29829d9b_0_6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Data Overview</a:t>
            </a:r>
            <a:endParaRPr>
              <a:solidFill>
                <a:srgbClr val="1974D2"/>
              </a:solidFill>
            </a:endParaRPr>
          </a:p>
        </p:txBody>
      </p:sp>
      <p:sp>
        <p:nvSpPr>
          <p:cNvPr id="185" name="Google Shape;185;g32c29829d9b_0_61"/>
          <p:cNvSpPr txBox="1"/>
          <p:nvPr>
            <p:ph idx="1" type="body"/>
          </p:nvPr>
        </p:nvSpPr>
        <p:spPr>
          <a:xfrm>
            <a:off x="202550" y="861975"/>
            <a:ext cx="8629800" cy="1152300"/>
          </a:xfrm>
          <a:prstGeom prst="rect">
            <a:avLst/>
          </a:prstGeom>
          <a:noFill/>
          <a:ln>
            <a:noFill/>
          </a:ln>
        </p:spPr>
        <p:txBody>
          <a:bodyPr anchorCtr="0" anchor="t" bIns="91425" lIns="91425" spcFirstLastPara="1" rIns="91425" wrap="square" tIns="91425">
            <a:spAutoFit/>
          </a:bodyPr>
          <a:lstStyle/>
          <a:p>
            <a:pPr indent="-317500" lvl="0" marL="457200" rtl="0" algn="l">
              <a:spcBef>
                <a:spcPts val="600"/>
              </a:spcBef>
              <a:spcAft>
                <a:spcPts val="0"/>
              </a:spcAft>
              <a:buClr>
                <a:srgbClr val="1F1F1F"/>
              </a:buClr>
              <a:buSzPts val="1400"/>
              <a:buFont typeface="Nunito Medium"/>
              <a:buChar char="●"/>
            </a:pPr>
            <a:r>
              <a:rPr lang="en" sz="1400">
                <a:solidFill>
                  <a:srgbClr val="000000"/>
                </a:solidFill>
              </a:rPr>
              <a:t>The training dataset has 20000 rows and 41 columns</a:t>
            </a:r>
            <a:endParaRPr sz="1400">
              <a:solidFill>
                <a:srgbClr val="000000"/>
              </a:solidFill>
            </a:endParaRPr>
          </a:p>
          <a:p>
            <a:pPr indent="-317500" lvl="0" marL="457200" rtl="0" algn="l">
              <a:spcBef>
                <a:spcPts val="1000"/>
              </a:spcBef>
              <a:spcAft>
                <a:spcPts val="0"/>
              </a:spcAft>
              <a:buClr>
                <a:srgbClr val="000000"/>
              </a:buClr>
              <a:buSzPts val="1400"/>
              <a:buChar char="●"/>
            </a:pPr>
            <a:r>
              <a:rPr lang="en" sz="1400">
                <a:solidFill>
                  <a:srgbClr val="000000"/>
                </a:solidFill>
              </a:rPr>
              <a:t>The test dataset has 5000 rows and 41 columns.</a:t>
            </a:r>
            <a:endParaRPr sz="1400">
              <a:solidFill>
                <a:srgbClr val="000000"/>
              </a:solidFill>
            </a:endParaRPr>
          </a:p>
          <a:p>
            <a:pPr indent="-317500" lvl="0" marL="457200" rtl="0" algn="l">
              <a:spcBef>
                <a:spcPts val="1000"/>
              </a:spcBef>
              <a:spcAft>
                <a:spcPts val="1000"/>
              </a:spcAft>
              <a:buClr>
                <a:srgbClr val="000000"/>
              </a:buClr>
              <a:buSzPts val="1400"/>
              <a:buChar char="●"/>
            </a:pPr>
            <a:r>
              <a:rPr lang="en" sz="1400">
                <a:solidFill>
                  <a:srgbClr val="000000"/>
                </a:solidFill>
              </a:rPr>
              <a:t>Out of 41 columns, 40 columns are of type float64 and the target column is categorical.</a:t>
            </a:r>
            <a:endParaRPr sz="14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g32c29829d9b_0_66"/>
          <p:cNvGraphicFramePr/>
          <p:nvPr/>
        </p:nvGraphicFramePr>
        <p:xfrm>
          <a:off x="1036875" y="1146800"/>
          <a:ext cx="3000000" cy="3000000"/>
        </p:xfrm>
        <a:graphic>
          <a:graphicData uri="http://schemas.openxmlformats.org/drawingml/2006/table">
            <a:tbl>
              <a:tblPr>
                <a:noFill/>
                <a:tableStyleId>{03F1215F-8930-49F2-B20A-82935E02FA4C}</a:tableStyleId>
              </a:tblPr>
              <a:tblGrid>
                <a:gridCol w="1414050"/>
                <a:gridCol w="1414050"/>
                <a:gridCol w="1414050"/>
                <a:gridCol w="1414050"/>
                <a:gridCol w="1414050"/>
              </a:tblGrid>
              <a:tr h="394000">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Model</a:t>
                      </a:r>
                      <a:endParaRPr b="1">
                        <a:solidFill>
                          <a:schemeClr val="lt1"/>
                        </a:solidFill>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39A9"/>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Hidden</a:t>
                      </a:r>
                      <a:endParaRPr b="1">
                        <a:solidFill>
                          <a:schemeClr val="lt1"/>
                        </a:solidFill>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39A9"/>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Optimizer</a:t>
                      </a:r>
                      <a:endParaRPr b="1">
                        <a:solidFill>
                          <a:schemeClr val="lt1"/>
                        </a:solidFill>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39A9"/>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Dropout</a:t>
                      </a:r>
                      <a:endParaRPr b="1">
                        <a:solidFill>
                          <a:schemeClr val="lt1"/>
                        </a:solidFill>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39A9"/>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Class Weights</a:t>
                      </a:r>
                      <a:endParaRPr b="1">
                        <a:solidFill>
                          <a:schemeClr val="lt1"/>
                        </a:solidFill>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39A9"/>
                    </a:solidFill>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0 (Base)</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SGD</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2</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SGD</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2</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SGD</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SGD</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4</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2</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Adam</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Adam</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No</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000">
                <a:tc>
                  <a:txBody>
                    <a:bodyPr/>
                    <a:lstStyle/>
                    <a:p>
                      <a:pPr indent="0" lvl="0" marL="0" rtl="0" algn="ctr">
                        <a:lnSpc>
                          <a:spcPct val="115000"/>
                        </a:lnSpc>
                        <a:spcBef>
                          <a:spcPts val="0"/>
                        </a:spcBef>
                        <a:spcAft>
                          <a:spcPts val="0"/>
                        </a:spcAft>
                        <a:buNone/>
                      </a:pPr>
                      <a:r>
                        <a:rPr lang="en">
                          <a:latin typeface="Nunito"/>
                          <a:ea typeface="Nunito"/>
                          <a:cs typeface="Nunito"/>
                          <a:sym typeface="Nunito"/>
                        </a:rPr>
                        <a:t>6</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Adam</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latin typeface="Nunito"/>
                          <a:ea typeface="Nunito"/>
                          <a:cs typeface="Nunito"/>
                          <a:sym typeface="Nunito"/>
                        </a:rPr>
                        <a:t>Yes</a:t>
                      </a:r>
                      <a:endParaRPr>
                        <a:latin typeface="Nunito"/>
                        <a:ea typeface="Nunito"/>
                        <a:cs typeface="Nunito"/>
                        <a:sym typeface="Nuni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91" name="Google Shape;191;g32c29829d9b_0_66"/>
          <p:cNvSpPr txBox="1"/>
          <p:nvPr>
            <p:ph idx="4294967295"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Architectures</a:t>
            </a:r>
            <a:endParaRPr>
              <a:solidFill>
                <a:srgbClr val="1974D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2c29829d9b_0_3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Best Model - Test Performance</a:t>
            </a:r>
            <a:endParaRPr>
              <a:solidFill>
                <a:srgbClr val="1974D2"/>
              </a:solidFill>
            </a:endParaRPr>
          </a:p>
        </p:txBody>
      </p:sp>
      <p:sp>
        <p:nvSpPr>
          <p:cNvPr id="197" name="Google Shape;197;g32c29829d9b_0_38"/>
          <p:cNvSpPr txBox="1"/>
          <p:nvPr/>
        </p:nvSpPr>
        <p:spPr>
          <a:xfrm>
            <a:off x="366625" y="3362150"/>
            <a:ext cx="50106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model also performs quite well on the test data. The recall is greater than 0.8 for the "failure" class along with high precision and f1-score.</a:t>
            </a:r>
            <a:endParaRPr sz="1500">
              <a:solidFill>
                <a:schemeClr val="dk2"/>
              </a:solidFill>
              <a:latin typeface="Nunito"/>
              <a:ea typeface="Nunito"/>
              <a:cs typeface="Nunito"/>
              <a:sym typeface="Nunito"/>
            </a:endParaRPr>
          </a:p>
        </p:txBody>
      </p:sp>
      <p:pic>
        <p:nvPicPr>
          <p:cNvPr id="198" name="Google Shape;198;g32c29829d9b_0_38"/>
          <p:cNvPicPr preferRelativeResize="0"/>
          <p:nvPr/>
        </p:nvPicPr>
        <p:blipFill>
          <a:blip r:embed="rId3">
            <a:alphaModFix/>
          </a:blip>
          <a:stretch>
            <a:fillRect/>
          </a:stretch>
        </p:blipFill>
        <p:spPr>
          <a:xfrm>
            <a:off x="443800" y="931475"/>
            <a:ext cx="4016575" cy="1994825"/>
          </a:xfrm>
          <a:prstGeom prst="rect">
            <a:avLst/>
          </a:prstGeom>
          <a:noFill/>
          <a:ln>
            <a:noFill/>
          </a:ln>
        </p:spPr>
      </p:pic>
      <p:pic>
        <p:nvPicPr>
          <p:cNvPr id="199" name="Google Shape;199;g32c29829d9b_0_38"/>
          <p:cNvPicPr preferRelativeResize="0"/>
          <p:nvPr/>
        </p:nvPicPr>
        <p:blipFill>
          <a:blip r:embed="rId4">
            <a:alphaModFix/>
          </a:blip>
          <a:stretch>
            <a:fillRect/>
          </a:stretch>
        </p:blipFill>
        <p:spPr>
          <a:xfrm>
            <a:off x="5194750" y="861979"/>
            <a:ext cx="3461975" cy="27430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10ee00f67ea_0_55"/>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207" name="Google Shape;207;g10ee00f67ea_0_55"/>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